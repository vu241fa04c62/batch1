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Anton" pitchFamily="2" charset="0"/>
      <p:regular r:id="rId15"/>
    </p:embeddedFont>
    <p:embeddedFont>
      <p:font typeface="Fira Sans" panose="020B05030500000200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FA9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5" Type="http://schemas.openxmlformats.org/officeDocument/2006/relationships/image" Target="../media/image9.svg" /><Relationship Id="rId4" Type="http://schemas.openxmlformats.org/officeDocument/2006/relationships/image" Target="../media/image8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6" Type="http://schemas.openxmlformats.org/officeDocument/2006/relationships/image" Target="../media/image14.svg" /><Relationship Id="rId5" Type="http://schemas.openxmlformats.org/officeDocument/2006/relationships/image" Target="../media/image13.svg" /><Relationship Id="rId4" Type="http://schemas.openxmlformats.org/officeDocument/2006/relationships/image" Target="../media/image12.sv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 /><Relationship Id="rId3" Type="http://schemas.openxmlformats.org/officeDocument/2006/relationships/image" Target="../media/image15.png" /><Relationship Id="rId7" Type="http://schemas.openxmlformats.org/officeDocument/2006/relationships/image" Target="../media/image19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6" Type="http://schemas.openxmlformats.org/officeDocument/2006/relationships/image" Target="../media/image18.svg" /><Relationship Id="rId5" Type="http://schemas.openxmlformats.org/officeDocument/2006/relationships/image" Target="../media/image17.svg" /><Relationship Id="rId4" Type="http://schemas.openxmlformats.org/officeDocument/2006/relationships/image" Target="../media/image16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Relationship Id="rId4" Type="http://schemas.openxmlformats.org/officeDocument/2006/relationships/image" Target="../media/image22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2F065-0F9B-D1E0-53D8-1B4942EE5985}"/>
              </a:ext>
            </a:extLst>
          </p:cNvPr>
          <p:cNvSpPr txBox="1"/>
          <p:nvPr/>
        </p:nvSpPr>
        <p:spPr>
          <a:xfrm>
            <a:off x="3962400" y="1057835"/>
            <a:ext cx="6257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A95AF"/>
                </a:solidFill>
                <a:latin typeface="Anton" pitchFamily="2" charset="0"/>
              </a:rPr>
              <a:t>FIELD PROJECT</a:t>
            </a:r>
            <a:endParaRPr lang="en-IN" sz="6000" dirty="0">
              <a:solidFill>
                <a:srgbClr val="FA95AF"/>
              </a:solidFill>
              <a:latin typeface="Anton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23601-F686-A0DE-C8AB-D4F96978D60F}"/>
              </a:ext>
            </a:extLst>
          </p:cNvPr>
          <p:cNvSpPr txBox="1"/>
          <p:nvPr/>
        </p:nvSpPr>
        <p:spPr>
          <a:xfrm>
            <a:off x="537881" y="4990254"/>
            <a:ext cx="58629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A95AF"/>
                </a:solidFill>
                <a:latin typeface="Anton" pitchFamily="2" charset="0"/>
              </a:rPr>
              <a:t>SEC: </a:t>
            </a:r>
            <a:r>
              <a:rPr lang="en-US" sz="2400" dirty="0">
                <a:solidFill>
                  <a:schemeClr val="bg1"/>
                </a:solidFill>
                <a:latin typeface="Anton" pitchFamily="2" charset="0"/>
              </a:rPr>
              <a:t>2</a:t>
            </a:r>
          </a:p>
          <a:p>
            <a:r>
              <a:rPr lang="en-US" sz="2400" dirty="0">
                <a:solidFill>
                  <a:srgbClr val="FA95AF"/>
                </a:solidFill>
                <a:latin typeface="Anton" pitchFamily="2" charset="0"/>
              </a:rPr>
              <a:t>BATCH: </a:t>
            </a:r>
            <a:r>
              <a:rPr lang="en-US" sz="2400" dirty="0">
                <a:solidFill>
                  <a:schemeClr val="bg1"/>
                </a:solidFill>
                <a:latin typeface="Anton" pitchFamily="2" charset="0"/>
              </a:rPr>
              <a:t>1</a:t>
            </a:r>
          </a:p>
          <a:p>
            <a:r>
              <a:rPr lang="en-US" sz="2400" dirty="0">
                <a:solidFill>
                  <a:srgbClr val="FA95AF"/>
                </a:solidFill>
                <a:latin typeface="Anton" pitchFamily="2" charset="0"/>
              </a:rPr>
              <a:t>SUBMITTED BY :</a:t>
            </a:r>
            <a:endParaRPr lang="en-US" sz="2400" dirty="0">
              <a:solidFill>
                <a:schemeClr val="bg1"/>
              </a:solidFill>
              <a:latin typeface="Anton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nton" pitchFamily="2" charset="0"/>
              </a:rPr>
              <a:t>241FA04133</a:t>
            </a:r>
          </a:p>
          <a:p>
            <a:r>
              <a:rPr lang="en-US" dirty="0">
                <a:solidFill>
                  <a:schemeClr val="bg1"/>
                </a:solidFill>
                <a:latin typeface="Anton" pitchFamily="2" charset="0"/>
              </a:rPr>
              <a:t>241FA04203</a:t>
            </a:r>
          </a:p>
          <a:p>
            <a:r>
              <a:rPr lang="en-US" dirty="0">
                <a:solidFill>
                  <a:schemeClr val="bg1"/>
                </a:solidFill>
                <a:latin typeface="Anton" pitchFamily="2" charset="0"/>
              </a:rPr>
              <a:t>241FA04B20</a:t>
            </a:r>
          </a:p>
          <a:p>
            <a:r>
              <a:rPr lang="en-US" dirty="0">
                <a:solidFill>
                  <a:schemeClr val="bg1"/>
                </a:solidFill>
                <a:latin typeface="Anton" pitchFamily="2" charset="0"/>
              </a:rPr>
              <a:t>241FA04C62</a:t>
            </a:r>
            <a:r>
              <a:rPr lang="en-US" dirty="0">
                <a:solidFill>
                  <a:srgbClr val="FA95AF"/>
                </a:solidFill>
                <a:latin typeface="Anton" pitchFamily="2" charset="0"/>
              </a:rPr>
              <a:t> </a:t>
            </a:r>
          </a:p>
          <a:p>
            <a:endParaRPr lang="en-IN" sz="2400" dirty="0">
              <a:solidFill>
                <a:srgbClr val="FA95AF"/>
              </a:solidFill>
              <a:latin typeface="Anton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7CDBD-527E-86C8-CA18-03E52886BE84}"/>
              </a:ext>
            </a:extLst>
          </p:cNvPr>
          <p:cNvSpPr txBox="1"/>
          <p:nvPr/>
        </p:nvSpPr>
        <p:spPr>
          <a:xfrm>
            <a:off x="11689976" y="6329082"/>
            <a:ext cx="2707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A95AF"/>
                </a:solidFill>
                <a:latin typeface="Anton" pitchFamily="2" charset="0"/>
              </a:rPr>
              <a:t>SUBMITTED TO :</a:t>
            </a:r>
          </a:p>
          <a:p>
            <a:r>
              <a:rPr lang="en-US" dirty="0">
                <a:solidFill>
                  <a:schemeClr val="bg1"/>
                </a:solidFill>
                <a:latin typeface="Anton" pitchFamily="2" charset="0"/>
              </a:rPr>
              <a:t>CH.AMERESH</a:t>
            </a:r>
            <a:endParaRPr lang="en-IN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F10C9-7CF8-AC0C-376E-71B0687D59A7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7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VisionTrack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Smart Attendance Management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 Unified Face Recognition System Built for Educational Institutions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1EDF8-31CA-7130-033A-2B6E0FD2D88E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69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Problem with Manual Attendance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24639"/>
            <a:ext cx="3664744" cy="2418517"/>
          </a:xfrm>
          <a:prstGeom prst="roundRect">
            <a:avLst>
              <a:gd name="adj" fmla="val 14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07004" y="3051453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⏱</a:t>
            </a: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Time-Consuming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Roll calls waste valuable class time — up to 10 minutes per session across hundreds of classes.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824639"/>
            <a:ext cx="3664863" cy="2418517"/>
          </a:xfrm>
          <a:prstGeom prst="roundRect">
            <a:avLst>
              <a:gd name="adj" fmla="val 14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398562" y="3051453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🎭</a:t>
            </a: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Proxy Attendance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Students mark absent peers as present, making traditional attendance fundamentally unreliable.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92712"/>
          </a:xfrm>
          <a:prstGeom prst="roundRect">
            <a:avLst>
              <a:gd name="adj" fmla="val 201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07004" y="5696783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📂</a:t>
            </a: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Record Errors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21006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Manual entry leads to lost data, miscounts, and inconsistent reporting with no audit trail.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CF184-AD69-4DF1-7678-B61EB4D5C6AF}"/>
              </a:ext>
            </a:extLst>
          </p:cNvPr>
          <p:cNvSpPr/>
          <p:nvPr/>
        </p:nvSpPr>
        <p:spPr>
          <a:xfrm>
            <a:off x="12568518" y="7799293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5044"/>
            <a:ext cx="61955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Solution: VisionTrack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039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intelligent, camera-powered attendance platform that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automatically identifies students in real time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eliminating proxies, saving time, and generating accurate, auditable records with zero manual input.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647843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4984313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4931331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AI-driven recognition replaces the entire manual workflow from check-in to report generation.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58FACC-83A5-B359-9F97-5157A0FF0131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52682"/>
            <a:ext cx="5564862" cy="31533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19674" y="2028944"/>
            <a:ext cx="173974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063383" y="2104549"/>
            <a:ext cx="14523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919674" y="2561153"/>
            <a:ext cx="48715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Student Registration Portal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6919674" y="3354943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entry portal — built with semantic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 and CSS3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guides students through a streamlined onboarding flow: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16354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471398"/>
            <a:ext cx="4196358" cy="30480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93790" y="5645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Identity Input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61361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Student enters name, ID, and department credentials.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16962" y="5116354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5471398"/>
            <a:ext cx="4196358" cy="30480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216962" y="5645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Face Capture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16962" y="61361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Webcam activates to collect facial image samples.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40133" y="5116354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640133" y="5471398"/>
            <a:ext cx="4196358" cy="30480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640133" y="5645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Profile Creation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40133" y="61361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is stored and the student profile becomes training-ready.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F3DFF8-D9B5-66C7-F702-B0013642118B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4997"/>
            <a:ext cx="56933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Core Dashboard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74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Three powerful pillars power the VisionTrack AI experience: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66545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402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Member Registration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89299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Capture and store facial data for each student with guided prompts, ID linking, and real-time camera feedback.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6545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402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89299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Trigger the AI training pipeline directly from the dashboard — updating the recognition model with newly registered faces.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665458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402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Live Recognition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89299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camera feed identifies registered students instantly, marking attendance with timestamps automatically.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BB597B-29D0-C4A7-D521-D8FB45A1D6FD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82566"/>
            <a:ext cx="1696760" cy="426244"/>
          </a:xfrm>
          <a:prstGeom prst="roundRect">
            <a:avLst>
              <a:gd name="adj" fmla="val 6386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550551"/>
            <a:ext cx="14245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TECHNICAL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99536"/>
            <a:ext cx="62447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Built on Modern Web Technologies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36030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VisionTrack AI is a lightweight yet powerful stack — deployable on any institution's infrastructure with minimal overhead.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1170980"/>
            <a:ext cx="6244709" cy="35386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3790" y="5219938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63310" y="521993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42524" y="5477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Front-End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2524" y="596765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HTML5, CSS3 Grid, FontAwesome icons, Segoe UI typography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5219938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186482" y="521993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565696" y="5477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Application Logic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65696" y="596765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Vanilla JavaScript handling UI state, session control, and camera API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40133" y="5219938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9609653" y="521993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988868" y="5477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AI Integration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988868" y="596765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Face recognition model interface via backend API, trainable on demand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55D01C-AF60-D855-7316-DA10AD89BB1D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UI/UX Design Philosophy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Responsive CSS Grid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Fluid layouts adapt to any screen size — from admin desktops to classroom tablets.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Clean Typography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"Segoe UI" provides a professional, readable interface consistent with enterprise software standards.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Interactive Status Alerts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Color-coded feedback (success, warning, error) gives users instant, contextual system responses.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Dark-Slate Aesthetic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cohesive dark color scheme reduces eye strain and projects a modern, professional brand identity.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3AC276-8404-FBC8-65CD-ABF826A5ECD3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7381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End-to-End Attendance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Attendance Marked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Identity Match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Live Detection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Model Training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Face Capture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 the moment a student enters the room to the final attendance log entry, VisionTrack AI handles every step — with no instructor intervention required. The pipeline runs in seconds, ensuring classes begin on time.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865C69-7AC3-2C78-B796-F92E0CCE89AA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15728"/>
            <a:ext cx="269105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2091333"/>
            <a:ext cx="24036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SECURITY &amp;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4793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Protected at Every Layer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341727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VisionTrack AI is designed with institutional security in mind — access is restricted and sessions are actively managed.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249" y="1439466"/>
            <a:ext cx="5564862" cy="315337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110163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103138"/>
            <a:ext cx="29477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Password-Protected Entry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559355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Only authorized administrators can access the dashboard via credential-gated login.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5110163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3008" y="5103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Session Management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973008" y="559355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JavaScript-driven session logic enforces automatic logout on inactivity, preventing unauthorized access.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5110163"/>
            <a:ext cx="340162" cy="340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5103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Role-Based Access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559355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Instructors and admins operate within defined permission boundaries — students cannot self-modify records.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EA190B-351D-5527-0C2B-86F7DB48937F}"/>
              </a:ext>
            </a:extLst>
          </p:cNvPr>
          <p:cNvSpPr/>
          <p:nvPr/>
        </p:nvSpPr>
        <p:spPr>
          <a:xfrm>
            <a:off x="12568518" y="7727577"/>
            <a:ext cx="2061882" cy="50202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7038"/>
            <a:ext cx="6021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1597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VisionTrack AI delivers a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production-ready foundation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for intelligent attendance — with a clear roadmap for growth: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096935"/>
            <a:ext cx="7556421" cy="4065508"/>
          </a:xfrm>
          <a:prstGeom prst="roundRect">
            <a:avLst>
              <a:gd name="adj" fmla="val 83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93790" y="3096935"/>
            <a:ext cx="3778210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20604" y="3323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3814167"/>
            <a:ext cx="33245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 to institutional ERPs (e.g., MySQL, Firebase) for persistent, queryable attendance records.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72000" y="3096935"/>
            <a:ext cx="3778210" cy="2395657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3096935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798814" y="3323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Cloud Analytics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98814" y="3814167"/>
            <a:ext cx="33245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dashboards surfacing attendance trends, absentee alerts, and compliance reports.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492591"/>
            <a:ext cx="7556421" cy="1669852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93790" y="5492591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20604" y="5719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Mobile Expansion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20604" y="620982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Progressive Web App (PWA) support enabling attendance monitoring from any device, anywhere.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F05F75-B447-11D5-EA27-57639CB3F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60"/>
            <a:ext cx="14630399" cy="819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9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631</Words>
  <Application>Microsoft Office PowerPoint</Application>
  <PresentationFormat>Custom</PresentationFormat>
  <Paragraphs>94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arun teja</cp:lastModifiedBy>
  <cp:revision>2</cp:revision>
  <dcterms:created xsi:type="dcterms:W3CDTF">2026-04-20T03:40:12Z</dcterms:created>
  <dcterms:modified xsi:type="dcterms:W3CDTF">2026-04-27T08:54:25Z</dcterms:modified>
</cp:coreProperties>
</file>